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E2001A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3657600"/>
            <a:ext cx="2743200" cy="27432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CASE STUDIES · EUROPA 2022–2026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Cyberbezpieczeństwo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infrastruktura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krytyczna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energetyce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292608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166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Zagrożenia hybrydowe, sabotaż podmorski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cyberataki na sektor energetyczny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E20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Stream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E20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 · 22 firmy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BalticConnector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 Peng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E20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S · Estlink 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3832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E20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PL: sabotaż cyber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RO: Electrica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42976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1C2330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2024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Marzec 2026 · Heuristica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OŚ CZASU INCYDENTÓW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lat zagrożeń — od Bałtyku po 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474720"/>
            <a:ext cx="106984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383280"/>
            <a:ext cx="182880" cy="1828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86000"/>
            <a:ext cx="0" cy="1097280"/>
          </a:xfrm>
          <a:prstGeom prst="line">
            <a:avLst/>
          </a:prstGeom>
          <a:noFill/>
          <a:ln w="9525">
            <a:solidFill>
              <a:srgbClr val="E2001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wrz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eksplozje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2001A">
              <a:alpha val="25000"/>
            </a:srgbClr>
          </a:solidFill>
          <a:ln w="6350">
            <a:solidFill>
              <a:srgbClr val="E20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KRYTYCZNY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286000" y="3383280"/>
            <a:ext cx="182880" cy="1828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2286000"/>
            <a:ext cx="0" cy="1097280"/>
          </a:xfrm>
          <a:prstGeom prst="line">
            <a:avLst/>
          </a:prstGeom>
          <a:noFill/>
          <a:ln w="9525">
            <a:solidFill>
              <a:srgbClr val="E2001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01168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7452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firmy (cyber)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6596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2001A">
              <a:alpha val="25000"/>
            </a:srgbClr>
          </a:solidFill>
          <a:ln w="6350">
            <a:solidFill>
              <a:srgbClr val="E20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WYSOKI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931920" y="338328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2286000"/>
            <a:ext cx="0" cy="1097280"/>
          </a:xfrm>
          <a:prstGeom prst="line">
            <a:avLst/>
          </a:prstGeom>
          <a:noFill/>
          <a:ln w="9525">
            <a:solidFill>
              <a:srgbClr val="FBBF2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65760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paź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BalticConnector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kotwica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1188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BBF24">
              <a:alpha val="2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WYSOKI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852160" y="338328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286000"/>
            <a:ext cx="0" cy="1097280"/>
          </a:xfrm>
          <a:prstGeom prst="line">
            <a:avLst/>
          </a:prstGeom>
          <a:noFill/>
          <a:ln w="9525">
            <a:solidFill>
              <a:srgbClr val="FBBF2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57784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SEE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BBF24">
              <a:alpha val="2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WYSOKI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040880" y="338328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2320" y="2286000"/>
            <a:ext cx="0" cy="1097280"/>
          </a:xfrm>
          <a:prstGeom prst="line">
            <a:avLst/>
          </a:prstGeom>
          <a:noFill/>
          <a:ln w="9525">
            <a:solidFill>
              <a:srgbClr val="FBBF24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76656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294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 Peng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kable C-Lion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BBF24">
              <a:alpha val="2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WYSOKI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412480" y="3383280"/>
            <a:ext cx="182880" cy="1828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8" name="Shape 36"/>
          <p:cNvSpPr/>
          <p:nvPr/>
        </p:nvSpPr>
        <p:spPr>
          <a:xfrm>
            <a:off x="8503920" y="2286000"/>
            <a:ext cx="0" cy="1097280"/>
          </a:xfrm>
          <a:prstGeom prst="line">
            <a:avLst/>
          </a:prstGeom>
          <a:noFill/>
          <a:ln w="9525">
            <a:solidFill>
              <a:srgbClr val="E2001A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13816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010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Estlink 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9244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2001A">
              <a:alpha val="25000"/>
            </a:srgbClr>
          </a:solidFill>
          <a:ln w="6350">
            <a:solidFill>
              <a:srgbClr val="E200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KRYTYCZNY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9784080" y="3383280"/>
            <a:ext cx="182880" cy="1828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44" name="Shape 42"/>
          <p:cNvSpPr/>
          <p:nvPr/>
        </p:nvSpPr>
        <p:spPr>
          <a:xfrm>
            <a:off x="9875520" y="2286000"/>
            <a:ext cx="0" cy="1097280"/>
          </a:xfrm>
          <a:prstGeom prst="line">
            <a:avLst/>
          </a:prstGeom>
          <a:noFill/>
          <a:ln w="9525">
            <a:solidFill>
              <a:srgbClr val="E2001A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509760" y="3657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3726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sabotaż OT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4040" y="1508760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2001A">
              <a:alpha val="25000"/>
            </a:srgbClr>
          </a:solidFill>
          <a:ln w="6350">
            <a:solidFill>
              <a:srgbClr val="E200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KRYTYCZNY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57200" y="4617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594360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poważnych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incydentów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91840" y="4617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300M€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3429000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4617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263640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cyberataków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energetykę UE 2023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961120" y="4617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9828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32%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9098280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operatorów bez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monitoringu 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3716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SABOTAŻ FIZYCZNY · WRZESIEŃ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Stream 1 &amp; 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26880" y="3200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2001A">
              <a:alpha val="30000"/>
            </a:srgbClr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320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NIEROZSTRZYGNIĘTY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60020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600200"/>
            <a:ext cx="45720" cy="2926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Co się stało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września 2022 r. podwodne eksplozje uszkodziły 3 z 4 nitek Nord Stream 1 i 2 na Bałtyku — najgłośniejszy incydent w historii europejskiej infrastruktury energetycznej.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60020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600200"/>
            <a:ext cx="45720" cy="2926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Atrybucja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1031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Śledztwa prowadziły Niemcy, Szwecja i Dania. Hipotezy: Ukraina, grupy prorosyjskie lub inne podmioty. Brak oficjalnego zakończenia dochodzenia do dziś.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60020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600200"/>
            <a:ext cx="45720" cy="2926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Kontekst geopolityczny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21031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Incydent nastąpił w czasie gdy Europa drastycznie ograniczała import rosyjskiego gazu. Stał się punktem zwrotnym w myśleniu o ochronie podmorskiej infrastruktury NATO.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Lekcje kryzysowe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5074920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0109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protokołów NATO na wypadek ataku na infrastrukturę podmorską w czasie pokoju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5486400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4223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atrybucją jako narzędziem "plausible deniability" — winny nieznany przez lata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5897880"/>
            <a:ext cx="109728" cy="10972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83387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w prawie międzynarodowym — granica między aktem wojennym a "sabotażem" nierozstrzygnięta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3716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CYBERATAK · MAJ 2023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 — największy cyberatak w historii sektora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ataku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920240"/>
            <a:ext cx="457200" cy="685800"/>
          </a:xfrm>
          <a:prstGeom prst="rect">
            <a:avLst/>
          </a:prstGeom>
          <a:solidFill>
            <a:srgbClr val="E2001A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920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Rekonesans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22 firm z podatnymi firewallami Zyxel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724912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724912"/>
            <a:ext cx="457200" cy="685800"/>
          </a:xfrm>
          <a:prstGeom prst="rect">
            <a:avLst/>
          </a:prstGeom>
          <a:solidFill>
            <a:srgbClr val="E2001A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72491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706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Eksploitacja 0-day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449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CVE-2023-28771 / port 500 UDP (IKE/VPN)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529584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529584"/>
            <a:ext cx="457200" cy="685800"/>
          </a:xfrm>
          <a:prstGeom prst="rect">
            <a:avLst/>
          </a:prstGeom>
          <a:solidFill>
            <a:srgbClr val="E2001A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352958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753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Jednoczesny atak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8496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firmy atakowane równocześnie — brak możliwości ostrzegania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4334256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334256"/>
            <a:ext cx="457200" cy="685800"/>
          </a:xfrm>
          <a:prstGeom prst="rect">
            <a:avLst/>
          </a:prstGeom>
          <a:solidFill>
            <a:srgbClr val="E2001A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433425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37997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OT/ICS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654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Penetracja środowisk operacyjnych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5138928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5138928"/>
            <a:ext cx="457200" cy="685800"/>
          </a:xfrm>
          <a:prstGeom prst="rect">
            <a:avLst/>
          </a:prstGeom>
          <a:solidFill>
            <a:srgbClr val="E2001A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51389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51846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Mode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458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Firmy przełączone w tryb wyspowy (izolacja)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15087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17220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zaatakowane firmy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25146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7220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skutecznie naruszonych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 fala)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35204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100K+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172200" y="3977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potencjalnie odciętych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odiorców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052560" y="150876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972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Atrybucja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8972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Powiązanie z Sandworm/GRU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(rosyjski wywiad wojskowy)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Forescout: 2. fala to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prawdopodobnie niezależna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eksploitacji, nie celowany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 Sandworma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457200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645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Kluczowa lekcja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491947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Synchroniczny atak na wiele celów jednocześnie "wyłącza" mechanizm dzielenia się informacją — nikt nie może ostrzec kolejnych ofiar, bo wszyscy są atakowani w tym samym momencie.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234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SABOTAŻ HYBRYDOWY · 2023–2024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incydenty — Morze Bałtyckie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01168" y="141732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417320"/>
            <a:ext cx="374904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PAŹ 2023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BalticConnector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Rurociąg FI–EE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24688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1C2330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96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Statek: Newnew Polar Bear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Chiny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" y="306324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Nagły spadek ciśnienia z 34,5 bar → 6 bar. Rurociąg wyłączony na ponad pół roku. Straty: ~300 mln EUR. Chiny przyznały się — "wypadek podczas sztormu".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" y="4526280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Brak możliwości zatrzymania statku w EEZ w czasie pokoju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78808" y="141732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8808" y="1417320"/>
            <a:ext cx="374904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 2024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15968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C-Lion 1 + BCS East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15968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Kable SE–LT + FI–DE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24688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1C2330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2496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Statek: Yi Peng 3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Chiny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15968" y="306324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Uszkodzono kabel łączący Szwecję z Litwą i jedyny kabel FI–kontynent. Przepływały też dane SWIFT — zagrożenie systemu finansowego. Pistorius: "nikt nie wierzy, że przypadkowo".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15968" y="4526280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1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Infrastruktura energetyczna = infrastruktura finansowa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56448" y="141732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1417320"/>
            <a:ext cx="374904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9" name="Text 27"/>
          <p:cNvSpPr/>
          <p:nvPr/>
        </p:nvSpPr>
        <p:spPr>
          <a:xfrm>
            <a:off x="8293608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 2024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93608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Estlink 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93608" y="2148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elektryczny FI–EE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93608" y="24688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1C2330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2496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Statek: Eagle 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🇷🇺 Shadow fleet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93608" y="306324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Kotwica wleczona przez 106 km po dnie. Finlandia zatrzymała statek (precedens w UE). NATO uruchomiło operację Baltic Sentry. Straty naprawy: &gt;60 mln EUR.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93608" y="4526280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E2001A">
              <a:alpha val="18000"/>
            </a:srgbClr>
          </a:solidFill>
          <a:ln w="6350">
            <a:solidFill>
              <a:srgbClr val="E20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Precedens: pierwsze zatrzymanie "shadow fleet" przez kraj 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8600" y="6035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wzorzec: "plausible deniability" — wszystkie incydenty oficjalnie były lub mogły być "wypadkami"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3258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DESTRUKCYJNY CYBERATAK · 29 GRUDNIA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3891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Polska — skoordynowany sabotaż 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ataku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2286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farm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wiatrowych i PV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48840" y="2286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Elektrociepłownia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(0,5 mln odbiorców)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69080" y="18288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69080" y="2286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produkcyjna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" y="3246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Zastosowane techniki (TTP)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611880"/>
            <a:ext cx="5394960" cy="54864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484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 wiping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6484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Uszkodzenie firmware kontrolerów RTU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270248"/>
            <a:ext cx="5394960" cy="548640"/>
          </a:xfrm>
          <a:prstGeom prst="rect">
            <a:avLst/>
          </a:prstGeom>
          <a:solidFill>
            <a:srgbClr val="1C2330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068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destruction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43068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Usunięcie plików systemowych OT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928616"/>
            <a:ext cx="5394960" cy="54864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651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Wiper malware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49651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Blokada komunikacji z siecią dystrybucyjną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586984"/>
            <a:ext cx="5394960" cy="548640"/>
          </a:xfrm>
          <a:prstGeom prst="rect">
            <a:avLst/>
          </a:prstGeom>
          <a:solidFill>
            <a:srgbClr val="1C2330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623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Długie przygotowanie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56235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Infiltracja sieci na długo przed atakiem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1508760"/>
            <a:ext cx="5989320" cy="5074920"/>
          </a:xfrm>
          <a:prstGeom prst="roundRect">
            <a:avLst>
              <a:gd name="adj" fmla="val 144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459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Tundra / Berserk Bear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(GRU — rosyjski wywiad wojskowy)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15727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Atrybucja (CERT Polska)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2286000"/>
            <a:ext cx="557784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377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przełom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88920"/>
            <a:ext cx="100584" cy="1005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27249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jawna akcja DESTRUKCYJNA tych aktorów wobec infrastruktury OT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410712"/>
            <a:ext cx="100584" cy="1005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34670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nie kradzież danych, lecz fizyczne uszkodzenie sprzętu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4032504"/>
            <a:ext cx="100584" cy="1005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396849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przerw w dostawach energii — dzięki szybkiej reakcji operatorów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654296"/>
            <a:ext cx="100584" cy="100584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5902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Długi czas przygotowania wskazuje na wcześniejszą infiltrację sieci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3492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2001A">
              <a:alpha val="12000"/>
            </a:srgbClr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539496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Źródło: CERT Polska, raport styczeń 2026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cert.pl/en/posts/2026/01/incident-report-energy-sector-2025/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280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DANE ENISA · CYBER EUROPE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3891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Strukturalne luki sektora energetycznego UE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146304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463040"/>
            <a:ext cx="278892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600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operatorów energetycznych bez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monitoringu OT/ICS przez SOC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63040"/>
            <a:ext cx="27889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600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integruje OT i IT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jednym centrum SOC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46304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63040"/>
            <a:ext cx="27889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600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36792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cyberincydentów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energetyce UE w 2023 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98864" y="146304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463040"/>
            <a:ext cx="27889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1600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&gt;50%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336024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incydentów wymierzonych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bezpośrednio w Europę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ataków na energetykę 2024→2025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65960" y="4343400"/>
            <a:ext cx="4322618" cy="274320"/>
          </a:xfrm>
          <a:prstGeom prst="rect">
            <a:avLst/>
          </a:prstGeom>
          <a:solidFill>
            <a:srgbClr val="E2001A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34298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" y="4892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(śr.)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65960" y="4983480"/>
            <a:ext cx="2377440" cy="274320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4983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sektor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65960" y="5623560"/>
            <a:ext cx="1512916" cy="274320"/>
          </a:xfrm>
          <a:prstGeom prst="rect">
            <a:avLst/>
          </a:prstGeom>
          <a:solidFill>
            <a:srgbClr val="2DD4BF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524596" y="5623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374904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regulacyjny — NIS2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43251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4261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Dyrektywa NIS2 wymaga raportowania incydentów w 24h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47823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47183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Obowiązkowe SOC dla operatorów infrastruktury krytycznej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52395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5175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ryzykiem łańcucha dostaw (supply chain)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56967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2" name="Text 40"/>
          <p:cNvSpPr/>
          <p:nvPr/>
        </p:nvSpPr>
        <p:spPr>
          <a:xfrm>
            <a:off x="7086600" y="56327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globalnych ataków na energetykę — Europa (2025)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13258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WNIOSKI KOŃCOWE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3891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Wzorce i rekomendacje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08760"/>
            <a:ext cx="576072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1848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Plausible Deniability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39112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incydent był lub mógł być "wypadkiem". Shadow fleet, cywilne statki, anonimowe grupy hakerskie — atrybucja trwa miesiącami.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08760"/>
            <a:ext cx="57607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1848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Punkt przecięcia ekosystemów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039112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Atakowane są miejsca gdzie energia, dane i finanse zbiegają się w jednym kablu. Przerwanie jednego kabla = wyłączenie kilku systemów jednocześnie.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65760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657600"/>
            <a:ext cx="576072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7673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Eskalacja: IT → 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187952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od kradzieży danych ku fizycznemu uszkodzeniu sprzętu OT. Polska 2025 to pierwszy case destrukcji firmware w sektorze energetycznym przez APT.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0"/>
            <a:ext cx="57607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7673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Luka prawna i operacyjna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187952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protokołów NATO na ataki podmorskie w czasie pokoju, brak możliwości zatrzymania statku w EEZ, luka w prawie między "wypadkiem" a aktem agresji.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1C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5833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Rekomendacje: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587044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5870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Sektorowe SOC z monitorem 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94760" y="587044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5870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OT = priorytet krytyczny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0" y="587044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5870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Procedury "island mode"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92440" y="587044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5870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NATO: protokoły podmorskie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241280" y="587044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5870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łańcucha dostaw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2026-03-19T11:59:33Z</dcterms:created>
  <dcterms:modified xsi:type="dcterms:W3CDTF">2026-03-19T11:59:33Z</dcterms:modified>
</cp:coreProperties>
</file>